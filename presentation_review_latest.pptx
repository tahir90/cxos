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64008"/>
            <a:ext cx="2681935" cy="6793992"/>
          </a:xfrm>
          <a:prstGeom prst="rect">
            <a:avLst/>
          </a:prstGeom>
          <a:solidFill>
            <a:srgbClr val="13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509760" y="64008"/>
            <a:ext cx="54864" cy="67939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17920"/>
            <a:ext cx="9509760" cy="640080"/>
          </a:xfrm>
          <a:prstGeom prst="rect">
            <a:avLst/>
          </a:prstGeom>
          <a:solidFill>
            <a:srgbClr val="13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17920"/>
            <a:ext cx="9509760" cy="457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56032"/>
            <a:ext cx="100584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301752"/>
            <a:ext cx="9509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  <a:latin typeface="Calibri"/>
              </a:defRPr>
            </a:pPr>
            <a:r>
              <a:t>GMG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30175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9E0B"/>
                </a:solidFill>
                <a:latin typeface="Calibri"/>
              </a:defRPr>
            </a:pPr>
            <a:r>
              <a:t>RESEARCH &amp; INSIGHTS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822960"/>
            <a:ext cx="8778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200">
                <a:solidFill>
                  <a:srgbClr val="FFFFFF"/>
                </a:solidFill>
                <a:latin typeface="Calibri"/>
              </a:rPr>
              <a:t>Impact</a:t>
            </a:r>
          </a:p>
          <a:p>
            <a:r>
              <a:rPr b="1" sz="5400">
                <a:solidFill>
                  <a:srgbClr val="F59E0B"/>
                </a:solidFill>
                <a:latin typeface="Calibri"/>
              </a:rPr>
              <a:t>of Excessive Use of Agentic AI on Human Brain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54880"/>
            <a:ext cx="347472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892040"/>
            <a:ext cx="8778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Research-Informed Analysis with Strategic Recommendations for GMG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5778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March 05,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9788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2026 — GMG Intelligence Series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12680" y="3108960"/>
            <a:ext cx="201168" cy="2011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61320" y="3566160"/>
            <a:ext cx="164592" cy="1645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241280" y="4114800"/>
            <a:ext cx="128016" cy="12801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F172A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20116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B5CF6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453896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4155"/>
                </a:solidFill>
                <a:latin typeface="Calibri"/>
              </a:defRPr>
            </a:pPr>
            <a:r>
              <a:t>Executive Summary: The Agentic AI Brain Crisis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92808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B5CF6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929384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4155"/>
                </a:solidFill>
                <a:latin typeface="Calibri"/>
              </a:defRPr>
            </a:pPr>
            <a:r>
              <a:t>Understanding the Technology: Three Core Traits of Agentic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68296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B5CF6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0487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4155"/>
                </a:solidFill>
                <a:latin typeface="Calibri"/>
              </a:defRPr>
            </a:pPr>
            <a:r>
              <a:t>How Agentic AI Reshapes the Brain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43784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B5CF6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88036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4155"/>
                </a:solidFill>
                <a:latin typeface="Calibri"/>
              </a:defRPr>
            </a:pPr>
            <a:r>
              <a:t>Agentic AI Global Market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19272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B5CF6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35584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4155"/>
                </a:solidFill>
                <a:latin typeface="Calibri"/>
              </a:defRPr>
            </a:pPr>
            <a:r>
              <a:t>How Agentic AI Reshapes the Brain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94760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B5CF6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31336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4155"/>
                </a:solidFill>
                <a:latin typeface="Calibri"/>
              </a:defRPr>
            </a:pPr>
            <a:r>
              <a:t>MIT Media Lab Study 2025 — Key Findings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270248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B5CF6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306824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4155"/>
                </a:solidFill>
                <a:latin typeface="Calibri"/>
              </a:defRPr>
            </a:pPr>
            <a:r>
              <a:t>The Hidden Cost: Cognitive Debt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745736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B5CF6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7823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4155"/>
                </a:solidFill>
                <a:latin typeface="Calibri"/>
              </a:defRPr>
            </a:pPr>
            <a:r>
              <a:t>The Evidence: Critical Thinking in Decline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221223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B5CF6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257799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4155"/>
                </a:solidFill>
                <a:latin typeface="Calibri"/>
              </a:defRPr>
            </a:pPr>
            <a:r>
              <a:t>The Most Vulnerable: Developing Brains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696711"/>
            <a:ext cx="685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B5CF6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733287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4155"/>
                </a:solidFill>
                <a:latin typeface="Calibri"/>
              </a:defRPr>
            </a:pPr>
            <a:r>
              <a:t>The Trade-Off: Efficiency vs Cognition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12801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GMG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94A3B8"/>
                </a:solidFill>
                <a:latin typeface="Calibri"/>
              </a:defRPr>
            </a:pPr>
            <a:r>
              <a:t>NEUROSCIENCE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601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Executive Summary: The Agentic AI Brain Crisis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18288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4472" y="1298448"/>
            <a:ext cx="3494952" cy="233172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4472" y="1298448"/>
            <a:ext cx="3494952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4472" y="1417320"/>
            <a:ext cx="349495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59E0B"/>
                </a:solidFill>
                <a:latin typeface="Calibri"/>
              </a:defRPr>
            </a:pPr>
            <a:r>
              <a:t>700M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472" y="2514600"/>
            <a:ext cx="3494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Agentic AI is transforming productivity at unprecedented sca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8371" y="1298448"/>
            <a:ext cx="3494952" cy="233172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8371" y="1298448"/>
            <a:ext cx="3494952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8371" y="1417320"/>
            <a:ext cx="349495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59E0B"/>
                </a:solidFill>
                <a:latin typeface="Calibri"/>
              </a:defRPr>
            </a:pPr>
            <a: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8371" y="2514600"/>
            <a:ext cx="3494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77% workforce adoption, $15.7B market in 2025 growing 50% 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269" y="1298448"/>
            <a:ext cx="3494952" cy="233172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269" y="1298448"/>
            <a:ext cx="3494952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269" y="1417320"/>
            <a:ext cx="349495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59E0B"/>
                </a:solidFill>
                <a:latin typeface="Calibri"/>
              </a:defRPr>
            </a:pPr>
            <a:r>
              <a:t>34%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269" y="2514600"/>
            <a:ext cx="34949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heavy AI users show 34% decline in analytical reasoning, 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12801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GMG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94A3B8"/>
                </a:solidFill>
                <a:latin typeface="Calibri"/>
              </a:defRPr>
            </a:pPr>
            <a:r>
              <a:t>HIGHEST RISK 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601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Understanding the Technology: Three Core Traits of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18288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98448"/>
            <a:ext cx="11430000" cy="804672"/>
          </a:xfrm>
          <a:prstGeom prst="rect">
            <a:avLst/>
          </a:prstGeom>
          <a:solidFill>
            <a:srgbClr val="0D1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98448"/>
            <a:ext cx="64008" cy="8046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34416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Calibri"/>
              </a:defRPr>
            </a:pPr>
            <a: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Three defining traits: Autonomous · Persistent · Delegated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12848"/>
            <a:ext cx="3703320" cy="3273552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212848"/>
            <a:ext cx="37033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304288"/>
            <a:ext cx="475488" cy="347472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322576"/>
            <a:ext cx="475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B5CF6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304288"/>
            <a:ext cx="28254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B5CF6"/>
                </a:solidFill>
                <a:latin typeface="Calibri"/>
              </a:defRPr>
            </a:pPr>
            <a:r>
              <a:t>Autonomous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34290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Makes decisions and executes tasks without step-by-step human instruction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266944"/>
            <a:ext cx="3703320" cy="219456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294376"/>
            <a:ext cx="3566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eg. browses, codes, schedules, decides on behalf of users with minimal supervision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87952" y="2212848"/>
            <a:ext cx="3703320" cy="3273552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87952" y="2212848"/>
            <a:ext cx="370332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52544" y="2304288"/>
            <a:ext cx="475488" cy="347472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2544" y="2322576"/>
            <a:ext cx="475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6B6D4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2304288"/>
            <a:ext cx="28254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6B6D4"/>
                </a:solidFill>
                <a:latin typeface="Calibri"/>
              </a:defRPr>
            </a:pPr>
            <a:r>
              <a:t>Persistent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2544" y="2761488"/>
            <a:ext cx="34290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Manages long-horizon goals over days or weeks, running continuously in the background and maintaining context across sessions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10144" y="2212848"/>
            <a:ext cx="3703320" cy="3273552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10144" y="2212848"/>
            <a:ext cx="37033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2304288"/>
            <a:ext cx="475488" cy="347472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74736" y="2322576"/>
            <a:ext cx="475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59E0B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59952" y="2304288"/>
            <a:ext cx="28254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Calibri"/>
              </a:defRPr>
            </a:pPr>
            <a:r>
              <a:t>Delegated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2761488"/>
            <a:ext cx="34290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Acts as a proxy for human judgment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10144" y="5266944"/>
            <a:ext cx="3703320" cy="219456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01583" y="5294376"/>
            <a:ext cx="3566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  <a:latin typeface="Calibri"/>
              </a:defRPr>
            </a:pPr>
            <a:r>
              <a:t>eg. writing, researching, coding, communicating autonomously with increasing indepen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577840"/>
            <a:ext cx="11430000" cy="329184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623560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AutoGPT, Claude Agents, Copilot, Devin, Gemini Advanced, OpenAI Operator, AgentGPT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12801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GMG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B5CF6"/>
                </a:solidFill>
                <a:latin typeface="Calibri"/>
              </a:defRPr>
            </a:pPr>
            <a:r>
              <a:t>NEUROSCIENCE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How Agentic AI Reshapes the Brain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82880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257800" cy="53492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80160"/>
            <a:ext cx="164592" cy="932687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1316736"/>
            <a:ext cx="402336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335024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16736"/>
            <a:ext cx="43159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Prefrontal Cortex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82495"/>
            <a:ext cx="4315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Calibri"/>
              </a:defRPr>
            </a:pPr>
            <a:r>
              <a:t>▸  Reduced activation during AI-assisted decision tasks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304287"/>
            <a:ext cx="164592" cy="932687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0352" y="2340863"/>
            <a:ext cx="402336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359151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40863"/>
            <a:ext cx="43159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Hippocampus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706623"/>
            <a:ext cx="4315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Calibri"/>
              </a:defRPr>
            </a:pPr>
            <a:r>
              <a:t>▸  Episodic and spatial memory consolidation declines 22% with heavy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328415"/>
            <a:ext cx="164592" cy="932687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0352" y="3364991"/>
            <a:ext cx="402336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383279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364991"/>
            <a:ext cx="43159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Default Mode Network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730752"/>
            <a:ext cx="4315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Calibri"/>
              </a:defRPr>
            </a:pPr>
            <a:r>
              <a:t>▸  Suppressed during extended AI interaction, reducing the mind-wand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352544"/>
            <a:ext cx="164592" cy="932687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0352" y="4389120"/>
            <a:ext cx="402336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407407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389120"/>
            <a:ext cx="43159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Anterior Cingulate Cortex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754880"/>
            <a:ext cx="4315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Calibri"/>
              </a:defRPr>
            </a:pPr>
            <a:r>
              <a:t>▸  Cognitive effort monitoring reduced when AI handles task routing,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376671"/>
            <a:ext cx="164592" cy="932687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0352" y="5413247"/>
            <a:ext cx="402336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5431535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413247"/>
            <a:ext cx="43159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Mirror Neuron Systems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779007"/>
            <a:ext cx="4315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Calibri"/>
              </a:defRPr>
            </a:pPr>
            <a:r>
              <a:t>▸  Social cognition and empathy pathways show 18% reduced activation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0" y="1234440"/>
            <a:ext cx="36576" cy="53492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852160" y="1261872"/>
            <a:ext cx="6080760" cy="2560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852160" y="1261872"/>
            <a:ext cx="608076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61888" y="1307592"/>
            <a:ext cx="5897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Cognitive Offloading Effect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61888" y="1645919"/>
            <a:ext cx="5897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Calibri"/>
              </a:defRPr>
            </a:pPr>
            <a:r>
              <a:t>When AI handles cognitive tasks, activation in executive function regions decreases measurably — reducing neural engagement critical for skill maintenance.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52160" y="4023360"/>
            <a:ext cx="6080760" cy="2560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52160" y="4023360"/>
            <a:ext cx="6080760" cy="347472"/>
          </a:xfrm>
          <a:prstGeom prst="rect">
            <a:avLst/>
          </a:prstGeom>
          <a:solidFill>
            <a:srgbClr val="33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61888" y="4069080"/>
            <a:ext cx="5897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Neural Plasticity Risk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61888" y="4407408"/>
            <a:ext cx="5897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Calibri"/>
              </a:defRPr>
            </a:pPr>
            <a:r>
              <a:t>Sustained under-stimulation across multiple regions creates compound cognitive risk — impact amplifies beyond any single region's contribution.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12801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GMG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94A3B8"/>
                </a:solidFill>
                <a:latin typeface="Calibri"/>
              </a:defRPr>
            </a:pPr>
            <a:r>
              <a:t>THE SCALE OF ADOPTION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601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Agentic AI Global Market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18288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396" y="1234440"/>
            <a:ext cx="2743131" cy="219456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2396" y="1234440"/>
            <a:ext cx="2743131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2396" y="1344168"/>
            <a:ext cx="274313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9E0B"/>
                </a:solidFill>
                <a:latin typeface="Calibri"/>
              </a:defRPr>
            </a:pPr>
            <a:r>
              <a:t>700M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396" y="2313432"/>
            <a:ext cx="2743131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700M+ monthly active users across major agentic AI platforms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319" y="1234440"/>
            <a:ext cx="2743131" cy="219456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319" y="1234440"/>
            <a:ext cx="2743131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319" y="1344168"/>
            <a:ext cx="274313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9E0B"/>
                </a:solidFill>
                <a:latin typeface="Calibri"/>
              </a:defRPr>
            </a:pPr>
            <a: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319" y="2313432"/>
            <a:ext cx="2743131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77% of knowledge workers use AI tools weekly — highest adopt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8243" y="1234440"/>
            <a:ext cx="2743131" cy="219456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8243" y="1234440"/>
            <a:ext cx="2743131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8243" y="1344168"/>
            <a:ext cx="274313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9E0B"/>
                </a:solidFill>
                <a:latin typeface="Calibri"/>
              </a:defRPr>
            </a:pPr>
            <a:r>
              <a:t>4x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243" y="2313432"/>
            <a:ext cx="2743131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4x productivity gains reported in AI-assisted complex task 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96167" y="1234440"/>
            <a:ext cx="2743131" cy="219456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96167" y="1234440"/>
            <a:ext cx="2743131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6167" y="1344168"/>
            <a:ext cx="274313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9E0B"/>
                </a:solidFill>
                <a:latin typeface="Calibri"/>
              </a:defRPr>
            </a:pPr>
            <a:r>
              <a:t>30%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167" y="2313432"/>
            <a:ext cx="2743131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30% of workers aged 18-25 began careers with AI as primary 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2396" y="3657600"/>
            <a:ext cx="2743131" cy="219456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2396" y="3657600"/>
            <a:ext cx="2743131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2396" y="3767328"/>
            <a:ext cx="274313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9E0B"/>
                </a:solidFill>
                <a:latin typeface="Calibri"/>
              </a:defRPr>
            </a:pPr>
            <a:r>
              <a:t>$15.7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396" y="4736592"/>
            <a:ext cx="2743131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$15.7 billion global agentic AI market in 2025, projected $7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319" y="3657600"/>
            <a:ext cx="2743131" cy="219456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319" y="3657600"/>
            <a:ext cx="2743131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319" y="3767328"/>
            <a:ext cx="274313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9E0B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319" y="4736592"/>
            <a:ext cx="2743131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50% year-over-year market growth outpacing all prior technol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48243" y="3657600"/>
            <a:ext cx="2743131" cy="219456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48243" y="3657600"/>
            <a:ext cx="2743131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48243" y="3767328"/>
            <a:ext cx="2743131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9E0B"/>
                </a:solidFill>
                <a:latin typeface="Calibri"/>
              </a:defRPr>
            </a:pPr>
            <a:r>
              <a:t>4.2x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8243" y="4736592"/>
            <a:ext cx="2743131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4.2x ROI reported by enterprises implementing full agentic 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12801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GMG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B5CF6"/>
                </a:solidFill>
                <a:latin typeface="Calibri"/>
              </a:defRPr>
            </a:pPr>
            <a:r>
              <a:t>NEUROSCIENCE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How Agentic AI Reshapes the Brain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82880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257800" cy="53492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80160"/>
            <a:ext cx="164592" cy="932687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1316736"/>
            <a:ext cx="402336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335024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16736"/>
            <a:ext cx="43159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Prefrontal Cortex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82495"/>
            <a:ext cx="4315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Calibri"/>
              </a:defRPr>
            </a:pPr>
            <a:r>
              <a:t>▸  Reduced activation during AI-assisted decision tasks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304287"/>
            <a:ext cx="164592" cy="932687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0352" y="2340863"/>
            <a:ext cx="402336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359151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40863"/>
            <a:ext cx="43159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Hippocampus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706623"/>
            <a:ext cx="4315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Calibri"/>
              </a:defRPr>
            </a:pPr>
            <a:r>
              <a:t>▸  Episodic and spatial memory consolidation declines 22% with heavy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328415"/>
            <a:ext cx="164592" cy="932687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0352" y="3364991"/>
            <a:ext cx="402336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383279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364991"/>
            <a:ext cx="43159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Default Mode Network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730752"/>
            <a:ext cx="4315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Calibri"/>
              </a:defRPr>
            </a:pPr>
            <a:r>
              <a:t>▸  Suppressed during extended AI interaction, reducing mind-wanderin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352544"/>
            <a:ext cx="164592" cy="932687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0352" y="4389120"/>
            <a:ext cx="402336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407407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389120"/>
            <a:ext cx="43159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Anterior Cingulate Cortex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754880"/>
            <a:ext cx="4315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Calibri"/>
              </a:defRPr>
            </a:pPr>
            <a:r>
              <a:t>▸  Cognitive effort monitoring reduced when AI handles task routing,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376671"/>
            <a:ext cx="164592" cy="932687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0352" y="5413247"/>
            <a:ext cx="402336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5431535"/>
            <a:ext cx="4023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413247"/>
            <a:ext cx="43159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Mirror Neuron Systems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779007"/>
            <a:ext cx="4315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Calibri"/>
              </a:defRPr>
            </a:pPr>
            <a:r>
              <a:t>▸  Social cognition and empathy pathways show reduced activation 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0" y="1234440"/>
            <a:ext cx="36576" cy="53492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852160" y="1261872"/>
            <a:ext cx="6080760" cy="2560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852160" y="1261872"/>
            <a:ext cx="608076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61888" y="1307592"/>
            <a:ext cx="5897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Cognitive Offloading Effect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61888" y="1645919"/>
            <a:ext cx="5897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Calibri"/>
              </a:defRPr>
            </a:pPr>
            <a:r>
              <a:t>When AI handles cognitive tasks, activation in executive function regions decreases measurably — reducing neural engagement critical for skill maintenance.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52160" y="4023360"/>
            <a:ext cx="6080760" cy="2560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52160" y="4023360"/>
            <a:ext cx="6080760" cy="347472"/>
          </a:xfrm>
          <a:prstGeom prst="rect">
            <a:avLst/>
          </a:prstGeom>
          <a:solidFill>
            <a:srgbClr val="33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61888" y="4069080"/>
            <a:ext cx="5897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Neural Plasticity Risk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61888" y="4407408"/>
            <a:ext cx="5897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Calibri"/>
              </a:defRPr>
            </a:pPr>
            <a:r>
              <a:t>Sustained under-stimulation across multiple regions creates compound cognitive risk — impact amplifies beyond any single region's contribution.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12801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GMG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94A3B8"/>
                </a:solidFill>
                <a:latin typeface="Calibri"/>
              </a:defRPr>
            </a:pPr>
            <a:r>
              <a:t>LANDMARK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601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MIT Media Lab Study 2025 — Key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18288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11430000" cy="50292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64008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8988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500 participants, 6-month longitudinal, randomized into high-AI, moderate-AI,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20240"/>
            <a:ext cx="4206240" cy="3749039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9339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alibri"/>
              </a:defRPr>
            </a:pPr>
            <a:r>
              <a:t>STUDY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77440"/>
            <a:ext cx="3840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▸  500 participants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52928"/>
            <a:ext cx="3840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▸  6-month longitudinal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28416"/>
            <a:ext cx="3840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▸  randomized into high-AI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803904"/>
            <a:ext cx="3840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▸  moderate-AI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79392"/>
            <a:ext cx="3840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920240"/>
            <a:ext cx="2651760" cy="36576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19659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F4444"/>
                </a:solidFill>
                <a:latin typeface="Calibri"/>
              </a:defRPr>
            </a:pPr>
            <a:r>
              <a:t>Task Independence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359152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F4444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291840"/>
            <a:ext cx="24688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Task independence: High-AI users required AI assistance for 67% of tasks they previously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60920" y="1920240"/>
            <a:ext cx="2651760" cy="36576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19659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59E0B"/>
                </a:solidFill>
                <a:latin typeface="Calibri"/>
              </a:defRPr>
            </a:pPr>
            <a:r>
              <a:t>Learning Transfer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359152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59E0B"/>
                </a:solidFill>
                <a:latin typeface="Calibri"/>
              </a:defRPr>
            </a:pPr>
            <a:r>
              <a:t>41%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3291840"/>
            <a:ext cx="24688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Learning transfer: High-AI group showed 41% lower retention of learned skills when AI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66960" y="1920240"/>
            <a:ext cx="2651760" cy="36576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19659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6B6D4"/>
                </a:solidFill>
                <a:latin typeface="Calibri"/>
              </a:defRPr>
            </a:pPr>
            <a:r>
              <a:t>Creativity Metrics (Divergent Thinking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359152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6B6D4"/>
                </a:solidFill>
                <a:latin typeface="Calibri"/>
              </a:defRPr>
            </a:pPr>
            <a:r>
              <a:t>31%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291840"/>
            <a:ext cx="246888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Creativity metrics (divergent thinking tests): High-AI group 31% lower than control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760720"/>
            <a:ext cx="11430000" cy="804672"/>
          </a:xfrm>
          <a:prstGeom prst="rect">
            <a:avLst/>
          </a:prstGeom>
          <a:solidFill>
            <a:srgbClr val="14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80644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  <a:latin typeface="Calibri"/>
              </a:defRPr>
            </a:pPr>
            <a:r>
              <a:t>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870448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We are not just outsourcing tasks — we are outsourcing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12801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GMG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B5CF6"/>
                </a:solidFill>
                <a:latin typeface="Calibri"/>
              </a:defRPr>
            </a:pPr>
            <a:r>
              <a:t>COGNITIVE DEBT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The Hidden Cost: Cognitive Debt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82880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11430000" cy="16459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61872"/>
            <a:ext cx="73152" cy="1645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53312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9E0B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3533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19072"/>
            <a:ext cx="10058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Calibri"/>
              </a:defRPr>
            </a:pPr>
            <a:r>
              <a:t>BUILD: Accepting AI recommendations without analysis weakens prefrontal decision circuits;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035808"/>
            <a:ext cx="5486400" cy="18288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3127248"/>
            <a:ext cx="5349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AVOID: Delegating research and information synthesis erodes pattern recognition;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3035808"/>
            <a:ext cx="5486400" cy="1828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3127248"/>
            <a:ext cx="5349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REPLACE: Using AI for complex analysis prevents development of systems thinking;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12801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GMG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B5CF6"/>
                </a:solidFill>
                <a:latin typeface="Calibri"/>
              </a:defRPr>
            </a:pPr>
            <a:r>
              <a:t>CRITICAL THINKING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The Evidence: Critical Thinking in Decline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82880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3246120" cy="48920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61872"/>
            <a:ext cx="3246120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1673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EVIDENCE BASE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45720" cy="9601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28216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Gerlich (2025)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39112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Calibri"/>
              </a:defRPr>
            </a:pPr>
            <a:r>
              <a:t>1,400 university students — statistically significant negative correlation between AI use frequency and critical thinking scores; effect mediated by cognitive 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88920"/>
            <a:ext cx="45720" cy="9601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825496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Microsoft Research (2024)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36391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Calibri"/>
              </a:defRPr>
            </a:pPr>
            <a:r>
              <a:t>Knowledge workers across 18 countries — higher AI reliance correlated with reduced independent judgment and analytical reasoning performance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886200"/>
            <a:ext cx="45720" cy="9601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922776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Stanford Learning Lab (2024)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33672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Calibri"/>
              </a:defRPr>
            </a:pPr>
            <a:r>
              <a:t>Students using AI for academic work show 35% lower conceptual understanding and retention vs. deep engagement group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6200" y="1261872"/>
            <a:ext cx="2331720" cy="1520951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86200" y="1261872"/>
            <a:ext cx="233172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1371600"/>
            <a:ext cx="2331720" cy="836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F4444"/>
                </a:solidFill>
                <a:latin typeface="Calibri"/>
              </a:defRPr>
            </a:pPr>
            <a:r>
              <a:t>-34%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2174443"/>
            <a:ext cx="2148839" cy="577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Analytical reasoning decline in heavy AI users (MI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86200" y="2892552"/>
            <a:ext cx="2331720" cy="1520951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86200" y="2892552"/>
            <a:ext cx="233172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86200" y="3002280"/>
            <a:ext cx="2331720" cy="836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F4444"/>
                </a:solidFill>
                <a:latin typeface="Calibri"/>
              </a:defRPr>
            </a:pPr>
            <a:r>
              <a:t>-41%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3805123"/>
            <a:ext cx="2148839" cy="577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Independent decision-making capacity reduction aft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86200" y="4523232"/>
            <a:ext cx="2331720" cy="1520951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86200" y="4523232"/>
            <a:ext cx="233172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4632960"/>
            <a:ext cx="2331720" cy="836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F4444"/>
                </a:solidFill>
                <a:latin typeface="Calibri"/>
              </a:defRPr>
            </a:pPr>
            <a:r>
              <a:t>-28%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5435803"/>
            <a:ext cx="2148839" cy="577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Deep focus and sustained concentration decrease 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1261872"/>
            <a:ext cx="5212080" cy="48920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92240" y="1261872"/>
            <a:ext cx="5212080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1307592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1737360"/>
            <a:ext cx="45720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2" y="1773936"/>
            <a:ext cx="4892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Calibri"/>
              </a:defRPr>
            </a:pPr>
            <a:r>
              <a:t>-34%: Analytical reasoning decline in heavy AI users (MIT Media Lab, 2025)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92240" y="2331720"/>
            <a:ext cx="45720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2" y="2368296"/>
            <a:ext cx="4892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Calibri"/>
              </a:defRPr>
            </a:pPr>
            <a:r>
              <a:t>-41%: Independent decision-making capacity reduction after 6 months AI dependency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2926079"/>
            <a:ext cx="45720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2" y="2962656"/>
            <a:ext cx="4892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Calibri"/>
              </a:defRPr>
            </a:pPr>
            <a:r>
              <a:t>-28%: Deep focus and sustained concentration decrease in high-AI-use cohorts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3520439"/>
            <a:ext cx="45720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56832" y="3557015"/>
            <a:ext cx="4892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Calibri"/>
              </a:defRPr>
            </a:pPr>
            <a:r>
              <a:t>Domains most affected: Healthcare, Finance, Legal practice, Education, Engineering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6291072"/>
            <a:ext cx="1143000" cy="2926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6327648"/>
            <a:ext cx="103327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Healthcare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18488" y="6291072"/>
            <a:ext cx="896112" cy="2926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91640" y="6327648"/>
            <a:ext cx="7863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Finance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24328" y="6291072"/>
            <a:ext cx="1463040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97480" y="6327648"/>
            <a:ext cx="1353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Legal practice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97096" y="6291072"/>
            <a:ext cx="1060704" cy="292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70248" y="6327648"/>
            <a:ext cx="9509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67527" y="6291072"/>
            <a:ext cx="1225295" cy="2926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40679" y="6327648"/>
            <a:ext cx="111556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12801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GMG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F4444"/>
                </a:solidFill>
                <a:latin typeface="Calibri"/>
              </a:defRPr>
            </a:pPr>
            <a:r>
              <a:t>NEUROSCIENCE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Most Vulnerable: Developing Brains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182880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11430000" cy="502920"/>
          </a:xfrm>
          <a:prstGeom prst="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1732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ECACA"/>
                </a:solidFill>
                <a:latin typeface="Calibri"/>
              </a:defRPr>
            </a:pPr>
            <a:r>
              <a:t>Ages 0-7: Critical period for foundational cognitive architecture; AI exposure during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38528"/>
            <a:ext cx="11430000" cy="109728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938528"/>
            <a:ext cx="1920240" cy="1097280"/>
          </a:xfrm>
          <a:prstGeom prst="rect">
            <a:avLst/>
          </a:prstGeom>
          <a:solidFill>
            <a:srgbClr val="2D1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6"/>
            <a:ext cx="1828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Ages 0-7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103120"/>
            <a:ext cx="9052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Critical period for foundational cognitive architecture; AI exposure during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090672"/>
            <a:ext cx="11430000" cy="1097280"/>
          </a:xfrm>
          <a:prstGeom prst="rect">
            <a:avLst/>
          </a:prstGeom>
          <a:solidFill>
            <a:srgbClr val="1F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090672"/>
            <a:ext cx="1920240" cy="1097280"/>
          </a:xfrm>
          <a:prstGeom prst="rect">
            <a:avLst/>
          </a:prstGeom>
          <a:solidFill>
            <a:srgbClr val="44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3200400"/>
            <a:ext cx="1828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Ages 8-14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255264"/>
            <a:ext cx="9052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Executive function development peak; over-reliance on AI task assistance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42816"/>
            <a:ext cx="11430000" cy="109728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242816"/>
            <a:ext cx="1920240" cy="1097280"/>
          </a:xfrm>
          <a:prstGeom prst="rect">
            <a:avLst/>
          </a:prstGeom>
          <a:solidFill>
            <a:srgbClr val="1A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352544"/>
            <a:ext cx="1828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Ages 15-25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4407407"/>
            <a:ext cx="9052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Neuroplasticity highest — also highest risk period; 62% of this age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46811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University students using AI for academic work show 35% lower concept retention vs.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12801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GMG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B5CF6"/>
                </a:solidFill>
                <a:latin typeface="Calibri"/>
              </a:defRPr>
            </a:pPr>
            <a:r>
              <a:t>RISK / BENEFIT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The Trade-Off: Efficiency vs Cognition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82880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5577840" cy="457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0759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Current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261872"/>
            <a:ext cx="5577840" cy="4572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0759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Future Vision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83080"/>
            <a:ext cx="11521440" cy="502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81928" y="1783080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837943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Productivity increases up to 40% in routine knowledge work tasks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37943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Critical thinking decline 34% in heavy users (MIT, 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304288"/>
            <a:ext cx="115214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2304288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5915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Access to vast information synthesis in seconds vs. hours of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35915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Independent decision-making confidence reduced 25% after 6 months dependency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825496"/>
            <a:ext cx="11521440" cy="502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1928" y="2825496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803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Democratization of expertise — junior workers with AI match senior productivity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8803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Deep focus capacity down 48% — attention span fragmentation documented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346703"/>
            <a:ext cx="115214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1928" y="3346703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401568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Reduced cognitive load for repetitive tasks frees capacity for strategic thinking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Skill atrophy: 41% lower performance when AI tools unavailable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867911"/>
            <a:ext cx="11521440" cy="502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81928" y="3867911"/>
            <a:ext cx="27432" cy="5029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922775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Error reduction in rule-based tasks by 60-80% with AI verification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922775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Innovation pipeline risk: AI generates incremental solutions, not breakthrough insights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12801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GMG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B5CF6"/>
                </a:solidFill>
                <a:latin typeface="Calibri"/>
              </a:defRPr>
            </a:pPr>
            <a:r>
              <a:t>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Strategic Recommendations for GMG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82880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6187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94A3B8"/>
                </a:solidFill>
                <a:latin typeface="Calibri"/>
              </a:defRPr>
            </a:pPr>
            <a:r>
              <a:t>INDIVIDUALLY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36192"/>
            <a:ext cx="475488" cy="47548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" y="157276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1563624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Calibri"/>
              </a:defRPr>
            </a:pPr>
            <a:r>
              <a:t>Implement "Cognitive Hygiene" 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048255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Calibri"/>
              </a:defRPr>
            </a:pPr>
            <a:r>
              <a:t>Mandate AI-free problem-solving periods for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685031"/>
            <a:ext cx="557784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26187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94A3B8"/>
                </a:solidFill>
                <a:latin typeface="Calibri"/>
              </a:defRPr>
            </a:pPr>
            <a:r>
              <a:t>ORGANIZATIONS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536192"/>
            <a:ext cx="475488" cy="4754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157276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1563624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Calibri"/>
              </a:defRPr>
            </a:pPr>
            <a:r>
              <a:t>AI Usage Monitoring &amp; Calibration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1152" y="2048255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Calibri"/>
              </a:defRPr>
            </a:pPr>
            <a:r>
              <a:t>Deploy analytics to track AI dependency ratios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685031"/>
            <a:ext cx="557784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79476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94A3B8"/>
                </a:solidFill>
                <a:latin typeface="Calibri"/>
              </a:defRPr>
            </a:pPr>
            <a:r>
              <a:t>POLICY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069080"/>
            <a:ext cx="475488" cy="4754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" y="4105656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09651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Calibri"/>
              </a:defRPr>
            </a:pPr>
            <a:r>
              <a:t>Education Program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581144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Calibri"/>
              </a:defRPr>
            </a:pPr>
            <a:r>
              <a:t>Launch "AI Literacy + Cognitive Resilience" training covering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6217920"/>
            <a:ext cx="557784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79476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94A3B8"/>
                </a:solidFill>
                <a:latin typeface="Calibri"/>
              </a:defRPr>
            </a:pPr>
            <a:r>
              <a:t>MEASUREMENT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069080"/>
            <a:ext cx="475488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4105656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31152" y="409651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Calibri"/>
              </a:defRPr>
            </a:pPr>
            <a:r>
              <a:t>Develop Cognitive Agility Assessments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4581144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4155"/>
                </a:solidFill>
                <a:latin typeface="Calibri"/>
              </a:defRPr>
            </a:pPr>
            <a:r>
              <a:t>Quarterly testing of analytical reasoning,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6217920"/>
            <a:ext cx="557784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12801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GMG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94A3B8"/>
                </a:solidFill>
                <a:latin typeface="Calibri"/>
              </a:defRPr>
            </a:pPr>
            <a:r>
              <a:t>NEUROSCIENCE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601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Neuroscience of Responsible AI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18288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709" y="1298448"/>
            <a:ext cx="5242428" cy="233172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6709" y="1298448"/>
            <a:ext cx="5242428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9" y="1417320"/>
            <a:ext cx="52424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59E0B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709" y="2514600"/>
            <a:ext cx="52424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Optimal balance: 60-70% AI assistance for execution, 100% hu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22556" y="1298448"/>
            <a:ext cx="5242428" cy="2331720"/>
          </a:xfrm>
          <a:prstGeom prst="rect">
            <a:avLst/>
          </a:prstGeom>
          <a:solidFill>
            <a:srgbClr val="1E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22556" y="1298448"/>
            <a:ext cx="5242428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2556" y="1417320"/>
            <a:ext cx="52424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59E0B"/>
                </a:solidFill>
                <a:latin typeface="Calibri"/>
              </a:defRPr>
            </a:pPr>
            <a:r>
              <a:t>3x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2556" y="2514600"/>
            <a:ext cx="52424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Organizations with structured AI governance show 3x better 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"Cognitive sparring" practice: Deliberately solve problems without AI first, then  •  Learning phases: AI should be withheld during initial learning to allow schema formation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128016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GMG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B5CF6"/>
                </a:solidFill>
                <a:latin typeface="Calibri"/>
              </a:defRPr>
            </a:pPr>
            <a:r>
              <a:t>SOURCES &amp;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72A"/>
                </a:solidFill>
                <a:latin typeface="Calibri"/>
              </a:defRPr>
            </a:pPr>
            <a:r>
              <a:t>Sources &amp; Research Foundation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82880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54864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258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MIT Media Lab (2025): "Cognitive Impact of Sustained AI Delegation" — 6-month longitudinal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64792"/>
            <a:ext cx="54864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6479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Stanford Learning Lab (2024): "AI Tools and Academic Skill Retention"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03704"/>
            <a:ext cx="54864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203704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UCL Navigation Study (2024): "GPS/AI Navigation and Hippocampal Volume"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42616"/>
            <a:ext cx="54864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64261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McKinsey Global Institute (2025): "Future of Work: AI Adoption and Skill Transformation"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081528"/>
            <a:ext cx="54864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8152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Yale Mind Studies (2024): "Digital Detox and Cognitive Recovery"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520440"/>
            <a:ext cx="54864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5204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Journal of Neuroscience (2024): "Neuroplasticity Under Reduced Cognitive Demand Conditions"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959352"/>
            <a:ext cx="54864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95935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World Economic Forum (2025): "AI Skills Gap and Cognitive Workforce Readiness"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98264"/>
            <a:ext cx="54864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398264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OpenAI Usage Report (2025): "Global Agentic AI Adoption Statistics"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13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457200"/>
            <a:ext cx="4572000" cy="4572000"/>
          </a:xfrm>
          <a:prstGeom prst="ellipse">
            <a:avLst/>
          </a:prstGeom>
          <a:solidFill>
            <a:srgbClr val="13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3200400"/>
            <a:ext cx="22860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©2026 GMG | All rights reserved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gmg.com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  <a:latin typeface="Calibri"/>
              </a:defRPr>
            </a:pPr>
            <a: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