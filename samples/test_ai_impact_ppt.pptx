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64008"/>
            <a:ext cx="2681935" cy="6793992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509760" cy="64008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509760" cy="45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RESEAR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1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22960"/>
            <a:ext cx="8778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Calibri"/>
              </a:rPr>
              <a:t>The Impact</a:t>
            </a:r>
          </a:p>
          <a:p>
            <a:r>
              <a:rPr b="1" sz="5400">
                <a:solidFill>
                  <a:srgbClr val="F59E0B"/>
                </a:solidFill>
                <a:latin typeface="Calibri"/>
              </a:rPr>
              <a:t>of AI on Modern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 research-informed analysis of cognitive risks and strategic recommendations.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March 06,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2026 — RESEARCH &amp; INSIGHTS Intelligence 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31089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3566160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4114800"/>
            <a:ext cx="12801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653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Market Growth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4086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Key Research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163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Critical Risk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526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91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AI vs Traditional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3075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673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Expert Perspective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28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▸  AI is transforming industries at unprecedented speed</a:t>
            </a:r>
          </a:p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▸  Global AI market reached $142B in 2024</a:t>
            </a:r>
          </a:p>
          <a:p>
            <a:pPr>
              <a:lnSpc>
                <a:spcPts val="2500"/>
              </a:lnSpc>
              <a:spcAft>
                <a:spcPts val="14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▸  Early adopters see 3x productivity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MARKET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Growth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54" y="1298448"/>
            <a:ext cx="2621214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354" y="1298448"/>
            <a:ext cx="262121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54" y="1417320"/>
            <a:ext cx="262121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$142B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54" y="2514600"/>
            <a:ext cx="262121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Market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278" y="1298448"/>
            <a:ext cx="2621214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1278" y="1298448"/>
            <a:ext cx="262121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1278" y="1417320"/>
            <a:ext cx="262121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1278" y="2514600"/>
            <a:ext cx="262121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Productivity 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202" y="1298448"/>
            <a:ext cx="2621214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202" y="1298448"/>
            <a:ext cx="262121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202" y="1417320"/>
            <a:ext cx="262121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202" y="2514600"/>
            <a:ext cx="262121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Enterprise Adoption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57126" y="1298448"/>
            <a:ext cx="2621214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57126" y="1298448"/>
            <a:ext cx="262121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7126" y="1417320"/>
            <a:ext cx="262121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2.4M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7126" y="2514600"/>
            <a:ext cx="262121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New Jobs Created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9850" y="4140403"/>
            <a:ext cx="1546479" cy="15471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25" y="5715000"/>
            <a:ext cx="28117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$142B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1630" y="5650992"/>
            <a:ext cx="154647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5305" y="5715000"/>
            <a:ext cx="28117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13410" y="4957567"/>
            <a:ext cx="1546479" cy="7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085" y="5715000"/>
            <a:ext cx="28117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5190" y="5650992"/>
            <a:ext cx="154647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865" y="5715000"/>
            <a:ext cx="28117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2.4M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Market Growth Metrics — Source: Industry Reports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LANDMARK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Research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3246120" cy="489204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32461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4572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8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MIT AI Impact Study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4572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Stanford HAI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261872"/>
            <a:ext cx="5212080" cy="489204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261872"/>
            <a:ext cx="52120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307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73736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177393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Companies with AI strategy outperform peers by 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33172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236829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ROI on AI investments averages 300% over 3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Critical Risk Warning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52376" y="0"/>
            <a:ext cx="36576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261872"/>
            <a:ext cx="11430000" cy="1645920"/>
          </a:xfrm>
          <a:prstGeom prst="rect">
            <a:avLst/>
          </a:prstGeom>
          <a:solidFill>
            <a:srgbClr val="2D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261872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3533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353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1719072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Organizations that delay AI adoption risk falling irreversibly behind competitors within 18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35808"/>
            <a:ext cx="3627119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127248"/>
            <a:ext cx="348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Talent gap widening rapidly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320" y="3035808"/>
            <a:ext cx="3627119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2336" y="3127248"/>
            <a:ext cx="348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Technical debt compounding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02880" y="3035808"/>
            <a:ext cx="3627119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0896" y="3127248"/>
            <a:ext cx="348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Market share erosion accelerating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COMPARATIVE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vs Traditional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37947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759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61872"/>
            <a:ext cx="3794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0759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61872"/>
            <a:ext cx="37947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0759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83080"/>
            <a:ext cx="11521440" cy="5029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37943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1783080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37943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783080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37943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04288"/>
            <a:ext cx="11521440" cy="50292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591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2304288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3591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2" y="2304288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3591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60% lower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25496"/>
            <a:ext cx="11521440" cy="5029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8036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7952" y="2825496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288036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2" y="2825496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288036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346703"/>
            <a:ext cx="11521440" cy="50292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0156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7952" y="3346703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40156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2" y="3346703"/>
            <a:ext cx="2743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40156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Infinite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EXPERT 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Expert Perspective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59E0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1168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400" b="0">
                <a:solidFill>
                  <a:srgbClr val="FFFFFF"/>
                </a:solidFill>
                <a:latin typeface="Calibri"/>
              </a:defRPr>
            </a:pPr>
            <a:r>
              <a:t>AI will not replace humans, but humans who use AI will replace those who do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— Dr. Andrew Ng, Stanford AI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280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1615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INDIVIDUALLY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36192"/>
            <a:ext cx="475488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Invest in AI literacy across all departments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85031"/>
            <a:ext cx="55778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36192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Pilot 3 high-impact AI use cases in 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85031"/>
            <a:ext cx="55778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47548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 a dedicated AI Center of Excellence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217920"/>
            <a:ext cx="55778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MEASUREMENT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69080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Establish AI governance and ethics 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6217920"/>
            <a:ext cx="55778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54864"/>
            <a:ext cx="2681935" cy="6803136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54864"/>
            <a:ext cx="54864" cy="68031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2103120" cy="2103120"/>
          </a:xfrm>
          <a:prstGeom prst="ellipse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"/>
            <a:ext cx="10058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1945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Impact of AI on Modern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©2026 RESEARCH &amp; INSIGHTS | All rights reserved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9509760" cy="45720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